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236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QUỐC TẾ HỒNG BÀNG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Công nghệ Thông tin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774375" y="32004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/home/claude/build/icons/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43891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DỰNG ỨNG DỤNG QUẢN LÝ QUÁN BAR TRÊN NỀN TẢNG ANDROID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Kotlin và Firebase Realtime Database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12700">
            <a:solidFill>
              <a:srgbClr val="3C55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Lâm Trần Hồng Sơn   </a:t>
            </a:r>
            <a:pPr indent="0" marL="0">
              <a:buNone/>
            </a:pPr>
            <a:r>
              <a:rPr lang="en-US" sz="1500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(MSSV: 2311110023)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49560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Huỳnh Vĩnh Phát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 Công nghệ Thông tin  ·  TP. Hồ Chí Minh,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lục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3F4F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46504"/>
            <a:ext cx="713232" cy="713232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6" name="Image 0" descr="/home/claude/build/icons/agenda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952" y="1839224"/>
            <a:ext cx="527792" cy="527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74650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55448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 – Tổng quan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2057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đề tài, thực trạng và mục tiêu nghiên cứu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3F4F2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916936"/>
            <a:ext cx="713232" cy="713232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2" name="Image 1" descr="/home/claude/build/icons/agenda_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52" y="3009656"/>
            <a:ext cx="527792" cy="527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29169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55448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– Kiến trúc ứng dụng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54480" y="32278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 và mô hình tổ chức hệ thống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941064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3F4F2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" y="4087368"/>
            <a:ext cx="713232" cy="713232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8" name="Image 2" descr="/home/claude/build/icons/agenda_fu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52" y="4180088"/>
            <a:ext cx="527792" cy="5277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" y="40873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554480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hệ thống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554480" y="43982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nhóm chức năng chính phục vụ quản lý quán bar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5111496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3F4F2"/>
          </a:solidFill>
          <a:ln/>
        </p:spPr>
      </p:sp>
      <p:sp>
        <p:nvSpPr>
          <p:cNvPr id="23" name="Shape 18"/>
          <p:cNvSpPr/>
          <p:nvPr/>
        </p:nvSpPr>
        <p:spPr>
          <a:xfrm>
            <a:off x="713232" y="5257800"/>
            <a:ext cx="713232" cy="713232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24" name="Image 3" descr="/home/claude/build/icons/agenda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52" y="5350520"/>
            <a:ext cx="527792" cy="5277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3232" y="5257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554480" y="5221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 (CSDL)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554480" y="55686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dữ liệu trên Firebase Realtime Database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33008" y="160020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3F4F2"/>
          </a:solidFill>
          <a:ln/>
        </p:spPr>
      </p:sp>
      <p:sp>
        <p:nvSpPr>
          <p:cNvPr id="29" name="Shape 23"/>
          <p:cNvSpPr/>
          <p:nvPr/>
        </p:nvSpPr>
        <p:spPr>
          <a:xfrm>
            <a:off x="6397600" y="1746504"/>
            <a:ext cx="713232" cy="713232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30" name="Image 4" descr="/home/claude/build/icons/agenda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320" y="1839224"/>
            <a:ext cx="527792" cy="5277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397600" y="174650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238848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Code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238848" y="2057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package và các lớp trọng tâm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33008" y="2770632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3F4F2"/>
          </a:solidFill>
          <a:ln/>
        </p:spPr>
      </p:sp>
      <p:sp>
        <p:nvSpPr>
          <p:cNvPr id="35" name="Shape 28"/>
          <p:cNvSpPr/>
          <p:nvPr/>
        </p:nvSpPr>
        <p:spPr>
          <a:xfrm>
            <a:off x="6397600" y="2916936"/>
            <a:ext cx="713232" cy="713232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36" name="Image 5" descr="/home/claude/build/icons/agenda_dem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320" y="3009656"/>
            <a:ext cx="527792" cy="5277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97600" y="29169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7238848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7238848" y="32278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họa luồng sử dụng thực tế của ứng dụng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233008" y="3941064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3F4F2"/>
          </a:solidFill>
          <a:ln/>
        </p:spPr>
      </p:sp>
      <p:sp>
        <p:nvSpPr>
          <p:cNvPr id="41" name="Shape 33"/>
          <p:cNvSpPr/>
          <p:nvPr/>
        </p:nvSpPr>
        <p:spPr>
          <a:xfrm>
            <a:off x="6397600" y="4087368"/>
            <a:ext cx="713232" cy="713232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42" name="Image 6" descr="/home/claude/build/icons/agenda_e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0320" y="4180088"/>
            <a:ext cx="527792" cy="52779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97600" y="40873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7238848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7238848" y="43982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được, hạn chế và hướng mở rộng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đề tài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3F4F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83080"/>
            <a:ext cx="566928" cy="566928"/>
          </a:xfrm>
          <a:prstGeom prst="ellipse">
            <a:avLst/>
          </a:prstGeom>
          <a:solidFill>
            <a:srgbClr val="C0533E"/>
          </a:solidFill>
          <a:ln/>
        </p:spPr>
      </p:sp>
      <p:pic>
        <p:nvPicPr>
          <p:cNvPr id="6" name="Image 0" descr="/home/claude/build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49" y="18567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trạng &amp; khó khăn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lớn quán bar, quán nước quy mô nhỏ vẫn ghi chép nhập – xuất – doanh thu bằng sổ tay hoặc Excel rời rạc.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số liệu giữa các ca làm việc dễ sai lệch do nhầm lẫn khi ghi chép thủ công.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kiểm soát được thất thoát hàng hóa; tính lợi nhuận thủ công phức tạp và dễ sai sót.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cảnh báo hàng sắp hết, không thể theo dõi tình hình kinh doanh từ xa theo thời gian thực.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sách giấy tiềm ẩn nguy cơ thất lạc, hư hỏng dữ liệu theo thời gian.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3008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3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6525616" y="1783080"/>
            <a:ext cx="566928" cy="566928"/>
          </a:xfrm>
          <a:prstGeom prst="ellipse">
            <a:avLst/>
          </a:prstGeom>
          <a:solidFill>
            <a:srgbClr val="1F6F63"/>
          </a:solidFill>
          <a:ln/>
        </p:spPr>
      </p:sp>
      <p:pic>
        <p:nvPicPr>
          <p:cNvPr id="11" name="Image 1" descr="/home/claude/build/icons/g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316" y="18567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8848" y="1828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phạm vi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98768" y="246888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ứng dụng Android (Kotlin) giúp chủ quán quản lý đơn vị tính, danh mục đồ uống theo thời gian thực.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lịch sử nhập – xuất hàng gắn với thời gian cụ thể, phục vụ tra cứu về sau.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tổng hợp doanh thu, chi phí, lợi nhuận theo khoảng thời gian và cảnh báo hàng hết kho.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sử dụng: chủ quán / nhân viên thu ngân tại quán bar, quán nước quy mô nhỏ và vừa.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vi: một nền tảng Android + Firebase RTDB; chưa xây server riêng, chưa thanh toán online hay in hóa đơn.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CÔNG NGHỆ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– Kiến trúc ứng dụng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3F4F2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1737360"/>
            <a:ext cx="548640" cy="548640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6" name="Image 0" descr="/home/claude/build/icons/tech_kotl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18086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350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6151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chính, minSdk 21 – targetSdk 37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2441448" y="1572768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3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3072384" y="1737360"/>
            <a:ext cx="548640" cy="548640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1" name="Image 1" descr="/home/claude/build/icons/tech_andro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707" y="180868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2350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532888" y="26151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phát triển, Gradle build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4334256" y="1572768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3F4F2"/>
          </a:solidFill>
          <a:ln/>
        </p:spPr>
      </p:sp>
      <p:sp>
        <p:nvSpPr>
          <p:cNvPr id="15" name="Shape 11"/>
          <p:cNvSpPr/>
          <p:nvPr/>
        </p:nvSpPr>
        <p:spPr>
          <a:xfrm>
            <a:off x="4965192" y="1737360"/>
            <a:ext cx="548640" cy="548640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6" name="Image 2" descr="/home/claude/build/icons/tech_fire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15" y="180868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07408" y="2350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RTDB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425696" y="26151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NoSQL, đồng bộ thời gian thực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6227064" y="1572768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3F4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858000" y="1737360"/>
            <a:ext cx="548640" cy="548640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21" name="Image 3" descr="/home/claude/build/icons/tech_u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323" y="180868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0216" y="2350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AndroidX / Material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318504" y="26151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AppCompat, ConstraintLayout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8119872" y="1572768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3F4F2"/>
          </a:solidFill>
          <a:ln/>
        </p:spPr>
      </p:sp>
      <p:sp>
        <p:nvSpPr>
          <p:cNvPr id="25" name="Shape 19"/>
          <p:cNvSpPr/>
          <p:nvPr/>
        </p:nvSpPr>
        <p:spPr>
          <a:xfrm>
            <a:off x="8750808" y="1737360"/>
            <a:ext cx="548640" cy="548640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26" name="Image 4" descr="/home/claude/build/icons/tech_dia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131" y="180868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93024" y="2350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Dialogs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211312" y="26151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Afollestad – hộp thoại nhập liệu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10012680" y="1572768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3F4F2"/>
          </a:solidFill>
          <a:ln/>
        </p:spPr>
      </p:sp>
      <p:sp>
        <p:nvSpPr>
          <p:cNvPr id="30" name="Shape 23"/>
          <p:cNvSpPr/>
          <p:nvPr/>
        </p:nvSpPr>
        <p:spPr>
          <a:xfrm>
            <a:off x="10643616" y="1737360"/>
            <a:ext cx="548640" cy="548640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31" name="Image 5" descr="/home/claude/build/icons/tech_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4939" y="180868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85832" y="2350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Mobile Ads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0104120" y="26151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Quảng cáo banner (AdMob)</a:t>
            </a:r>
            <a:endParaRPr lang="en-US" sz="830" dirty="0"/>
          </a:p>
        </p:txBody>
      </p:sp>
      <p:sp>
        <p:nvSpPr>
          <p:cNvPr id="34" name="Text 26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phân lớp của ứng dụng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548640" y="374904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1B2A38"/>
          </a:solidFill>
          <a:ln/>
        </p:spPr>
      </p:sp>
      <p:sp>
        <p:nvSpPr>
          <p:cNvPr id="36" name="Shape 28"/>
          <p:cNvSpPr/>
          <p:nvPr/>
        </p:nvSpPr>
        <p:spPr>
          <a:xfrm>
            <a:off x="1997964" y="3968496"/>
            <a:ext cx="621792" cy="621792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7" name="Image 6" descr="/home/claude/build/icons/layer_u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0260" y="4050792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85800" y="4709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</a:t>
            </a:r>
            <a:endParaRPr lang="en-US" sz="1500" dirty="0"/>
          </a:p>
        </p:txBody>
      </p:sp>
      <p:sp>
        <p:nvSpPr>
          <p:cNvPr id="39" name="Text 30"/>
          <p:cNvSpPr/>
          <p:nvPr/>
        </p:nvSpPr>
        <p:spPr>
          <a:xfrm>
            <a:off x="777240" y="51206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Fragment · Adapter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RecyclerView, ViewPager, BaseActivity dùng chung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078224" y="47320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41" name="Shape 32"/>
          <p:cNvSpPr/>
          <p:nvPr/>
        </p:nvSpPr>
        <p:spPr>
          <a:xfrm>
            <a:off x="4251960" y="374904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1F6F63"/>
          </a:solidFill>
          <a:ln/>
        </p:spPr>
      </p:sp>
      <p:sp>
        <p:nvSpPr>
          <p:cNvPr id="42" name="Shape 33"/>
          <p:cNvSpPr/>
          <p:nvPr/>
        </p:nvSpPr>
        <p:spPr>
          <a:xfrm>
            <a:off x="5701284" y="3968496"/>
            <a:ext cx="621792" cy="621792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43" name="Image 7" descr="/home/claude/build/icons/layer_logi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3580" y="4050792"/>
            <a:ext cx="457200" cy="4572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389120" y="4709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4480560" y="51206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tự tính toán: Profit, Statistical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Drink, History, UnitObject, Feature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7781544" y="47320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47" name="Shape 37"/>
          <p:cNvSpPr/>
          <p:nvPr/>
        </p:nvSpPr>
        <p:spPr>
          <a:xfrm>
            <a:off x="7955280" y="374904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D9A441"/>
          </a:solidFill>
          <a:ln/>
        </p:spPr>
      </p:sp>
      <p:sp>
        <p:nvSpPr>
          <p:cNvPr id="48" name="Shape 38"/>
          <p:cNvSpPr/>
          <p:nvPr/>
        </p:nvSpPr>
        <p:spPr>
          <a:xfrm>
            <a:off x="9404604" y="3968496"/>
            <a:ext cx="621792" cy="621792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49" name="Image 8" descr="/home/claude/build/icons/layer_dat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0" y="4050792"/>
            <a:ext cx="457200" cy="45720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8092440" y="4709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51" name="Text 40"/>
          <p:cNvSpPr/>
          <p:nvPr/>
        </p:nvSpPr>
        <p:spPr>
          <a:xfrm>
            <a:off x="8183880" y="51206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/my_unit · /drink · /history</a:t>
            </a:r>
            <a:endParaRPr lang="en-US" sz="1000" dirty="0"/>
          </a:p>
        </p:txBody>
      </p:sp>
      <p:sp>
        <p:nvSpPr>
          <p:cNvPr id="52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CHỨC NĂNG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Mười nhóm chức năng chính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5" name="Shape 3"/>
          <p:cNvSpPr/>
          <p:nvPr/>
        </p:nvSpPr>
        <p:spPr>
          <a:xfrm>
            <a:off x="1330452" y="180136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6" name="Image 0" descr="/home/claude/build/icons/f_u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30" y="1877446"/>
            <a:ext cx="433060" cy="433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49631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đơn vị tính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" y="297180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Thêm, sửa, xóa đơn vị dùng chung cho đồ uống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2825496" y="16002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3607308" y="180136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1" name="Image 1" descr="/home/claude/build/icons/f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386" y="1877446"/>
            <a:ext cx="433060" cy="433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49631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đồ uống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944368" y="297180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Thêm, sửa, xóa, tìm kiếm theo tên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5102352" y="16002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15" name="Shape 11"/>
          <p:cNvSpPr/>
          <p:nvPr/>
        </p:nvSpPr>
        <p:spPr>
          <a:xfrm>
            <a:off x="5884164" y="180136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6" name="Image 2" descr="/home/claude/build/icons/f_ad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242" y="1877446"/>
            <a:ext cx="433060" cy="433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49631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kho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221224" y="297180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số lượng, đơn giá, thời điểm nhập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7379208" y="16002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20" name="Shape 15"/>
          <p:cNvSpPr/>
          <p:nvPr/>
        </p:nvSpPr>
        <p:spPr>
          <a:xfrm>
            <a:off x="8161020" y="180136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21" name="Image 3" descr="/home/claude/build/icons/f_us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098" y="1877446"/>
            <a:ext cx="433060" cy="4330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249631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kho bán hàng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498080" y="297180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Trừ tồn kho, kiểm tra không vượt số lượng có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9656064" y="160020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37876" y="180136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26" name="Image 4" descr="/home/claude/build/icons/f_det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3954" y="1877446"/>
            <a:ext cx="433060" cy="4330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65792" y="249631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nhập / dùng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774936" y="297180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theo từng đồ uống, theo từng ngày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548640" y="374904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30" name="Shape 23"/>
          <p:cNvSpPr/>
          <p:nvPr/>
        </p:nvSpPr>
        <p:spPr>
          <a:xfrm>
            <a:off x="1330452" y="395020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31" name="Image 5" descr="/home/claude/build/icons/f_outofst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6530" y="4026286"/>
            <a:ext cx="433060" cy="4330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" y="464515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uống hết hàng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67512" y="512064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mặt hàng cần nhập bổ sung</a:t>
            </a:r>
            <a:endParaRPr lang="en-US" sz="830" dirty="0"/>
          </a:p>
        </p:txBody>
      </p:sp>
      <p:sp>
        <p:nvSpPr>
          <p:cNvPr id="34" name="Shape 26"/>
          <p:cNvSpPr/>
          <p:nvPr/>
        </p:nvSpPr>
        <p:spPr>
          <a:xfrm>
            <a:off x="2825496" y="374904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35" name="Shape 27"/>
          <p:cNvSpPr/>
          <p:nvPr/>
        </p:nvSpPr>
        <p:spPr>
          <a:xfrm>
            <a:off x="3607308" y="395020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36" name="Image 6" descr="/home/claude/build/icons/f_reven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3386" y="4026286"/>
            <a:ext cx="433060" cy="4330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935224" y="464515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doanh thu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2944368" y="512064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khoảng thời gian tùy chọn</a:t>
            </a:r>
            <a:endParaRPr lang="en-US" sz="830" dirty="0"/>
          </a:p>
        </p:txBody>
      </p:sp>
      <p:sp>
        <p:nvSpPr>
          <p:cNvPr id="39" name="Shape 30"/>
          <p:cNvSpPr/>
          <p:nvPr/>
        </p:nvSpPr>
        <p:spPr>
          <a:xfrm>
            <a:off x="5102352" y="374904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40" name="Shape 31"/>
          <p:cNvSpPr/>
          <p:nvPr/>
        </p:nvSpPr>
        <p:spPr>
          <a:xfrm>
            <a:off x="5884164" y="395020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41" name="Image 7" descr="/home/claude/build/icons/f_co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0242" y="4026286"/>
            <a:ext cx="433060" cy="4330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12080" y="464515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chi phí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5221224" y="512064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chi phí nhập hàng theo giai đoạn</a:t>
            </a:r>
            <a:endParaRPr lang="en-US" sz="830" dirty="0"/>
          </a:p>
        </p:txBody>
      </p:sp>
      <p:sp>
        <p:nvSpPr>
          <p:cNvPr id="44" name="Shape 34"/>
          <p:cNvSpPr/>
          <p:nvPr/>
        </p:nvSpPr>
        <p:spPr>
          <a:xfrm>
            <a:off x="7379208" y="374904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45" name="Shape 35"/>
          <p:cNvSpPr/>
          <p:nvPr/>
        </p:nvSpPr>
        <p:spPr>
          <a:xfrm>
            <a:off x="8161020" y="395020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46" name="Image 8" descr="/home/claude/build/icons/f_profi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7098" y="4026286"/>
            <a:ext cx="433060" cy="43306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488936" y="464515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lợi nhuận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7498080" y="512064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trừ chi phí, theo từng mặt hàng</a:t>
            </a:r>
            <a:endParaRPr lang="en-US" sz="830" dirty="0"/>
          </a:p>
        </p:txBody>
      </p:sp>
      <p:sp>
        <p:nvSpPr>
          <p:cNvPr id="49" name="Shape 38"/>
          <p:cNvSpPr/>
          <p:nvPr/>
        </p:nvSpPr>
        <p:spPr>
          <a:xfrm>
            <a:off x="9656064" y="374904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3F4F2"/>
          </a:solidFill>
          <a:ln/>
        </p:spPr>
      </p:sp>
      <p:sp>
        <p:nvSpPr>
          <p:cNvPr id="50" name="Shape 39"/>
          <p:cNvSpPr/>
          <p:nvPr/>
        </p:nvSpPr>
        <p:spPr>
          <a:xfrm>
            <a:off x="10437876" y="3950208"/>
            <a:ext cx="585216" cy="585216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51" name="Image 9" descr="/home/claude/build/icons/f_bestsell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3954" y="4026286"/>
            <a:ext cx="433060" cy="43306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765792" y="464515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uống bán chạy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9774936" y="512064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 hạng theo tổng số lượng bán ra</a:t>
            </a:r>
            <a:endParaRPr lang="en-US" sz="830" dirty="0"/>
          </a:p>
        </p:txBody>
      </p:sp>
      <p:sp>
        <p:nvSpPr>
          <p:cNvPr id="5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CƠ SỞ DỮ LIỆU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trên Firebase Realtime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4709160"/>
          </a:xfrm>
          <a:prstGeom prst="roundRect">
            <a:avLst>
              <a:gd name="adj" fmla="val 1942"/>
            </a:avLst>
          </a:prstGeom>
          <a:solidFill>
            <a:srgbClr val="1B2A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Cây dữ liệu JSON (NoSQL)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7" name="Image 0" descr="/home/claude/build/icons/db_u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244282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591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/my_unit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6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1" name="Image 1" descr="/home/claude/build/icons/db_dr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0" y="34029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319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/drink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0876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6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unitId, unitName, quantity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5" name="Image 2" descr="/home/claude/build/icons/db_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436306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279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/history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0876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6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drinkId, unitId, quantity, price, total, timestamp, add</a:t>
            </a:r>
            <a:endParaRPr lang="en-US" sz="970" dirty="0"/>
          </a:p>
        </p:txBody>
      </p:sp>
      <p:sp>
        <p:nvSpPr>
          <p:cNvPr id="18" name="Shape 13"/>
          <p:cNvSpPr/>
          <p:nvPr/>
        </p:nvSpPr>
        <p:spPr>
          <a:xfrm>
            <a:off x="868680" y="5276088"/>
            <a:ext cx="5486400" cy="0"/>
          </a:xfrm>
          <a:prstGeom prst="line">
            <a:avLst/>
          </a:prstGeom>
          <a:noFill/>
          <a:ln w="9525">
            <a:solidFill>
              <a:srgbClr val="3C556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68680" y="5422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"denormalize": sao chép tên đồ uống / đơn vị tính ngay trong /history để giảm truy vấn chéo, tăng tốc hiển thị lịch sử — đánh đổi dư thừa dữ liệu lấy hiệu năng đọc.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858000" y="15087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 đồng bộ realtime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858000" y="2011680"/>
            <a:ext cx="4785055" cy="1874520"/>
          </a:xfrm>
          <a:prstGeom prst="roundRect">
            <a:avLst>
              <a:gd name="adj" fmla="val 3902"/>
            </a:avLst>
          </a:prstGeom>
          <a:solidFill>
            <a:srgbClr val="F3F4F2"/>
          </a:solidFill>
          <a:ln/>
        </p:spPr>
      </p:sp>
      <p:sp>
        <p:nvSpPr>
          <p:cNvPr id="22" name="Shape 17"/>
          <p:cNvSpPr/>
          <p:nvPr/>
        </p:nvSpPr>
        <p:spPr>
          <a:xfrm>
            <a:off x="7059168" y="2212848"/>
            <a:ext cx="502920" cy="502920"/>
          </a:xfrm>
          <a:prstGeom prst="ellipse">
            <a:avLst/>
          </a:prstGeom>
          <a:solidFill>
            <a:srgbClr val="1F6F63"/>
          </a:solidFill>
          <a:ln/>
        </p:spPr>
      </p:sp>
      <p:pic>
        <p:nvPicPr>
          <p:cNvPr id="23" name="Image 3" descr="/home/claude/build/icons/listener_chi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548" y="2278228"/>
            <a:ext cx="372161" cy="3721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80960" y="2231136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ChildEventListener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059168" y="2816352"/>
            <a:ext cx="43827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ListDrinkActivity, UnitActivity. Lắng nghe onChildAdded / Changed / Removed để cập nhật danh sách tức thời.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6858000" y="4096512"/>
            <a:ext cx="4785055" cy="1874520"/>
          </a:xfrm>
          <a:prstGeom prst="roundRect">
            <a:avLst>
              <a:gd name="adj" fmla="val 3902"/>
            </a:avLst>
          </a:prstGeom>
          <a:solidFill>
            <a:srgbClr val="F3F4F2"/>
          </a:solidFill>
          <a:ln/>
        </p:spPr>
      </p:sp>
      <p:sp>
        <p:nvSpPr>
          <p:cNvPr id="27" name="Shape 21"/>
          <p:cNvSpPr/>
          <p:nvPr/>
        </p:nvSpPr>
        <p:spPr>
          <a:xfrm>
            <a:off x="7059168" y="4297680"/>
            <a:ext cx="502920" cy="502920"/>
          </a:xfrm>
          <a:prstGeom prst="ellipse">
            <a:avLst/>
          </a:prstGeom>
          <a:solidFill>
            <a:srgbClr val="C0533E"/>
          </a:solidFill>
          <a:ln/>
        </p:spPr>
      </p:sp>
      <p:pic>
        <p:nvPicPr>
          <p:cNvPr id="28" name="Image 4" descr="/home/claude/build/icons/listener_va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548" y="4363060"/>
            <a:ext cx="372161" cy="3721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80960" y="4315968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ValueEventListener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059168" y="4901184"/>
            <a:ext cx="43827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StatisticalActivity, ProfitActivity. Lấy dữ liệu một lần theo bộ lọc thời gian rồi tính toán tại client.</a:t>
            </a:r>
            <a:endParaRPr lang="en-US" sz="98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MÃ NGUỒN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 chức package &amp; lớp trọng tâm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3F4F2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755648"/>
            <a:ext cx="512064" cy="512064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6" name="Image 0" descr="/home/claude/build/icons/pkg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736" y="1822216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267004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FeatureActivity, ListDrinkActivity, UnitActivity, DrinkDetailActivity, StatisticalActivity, ProfitActivity…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79776" y="1572768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3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3575304" y="1755648"/>
            <a:ext cx="512064" cy="512064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1" name="Image 1" descr="/home/claude/build/icons/pkg_mo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872" y="1822216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71216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889504" y="267004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Drink, UnitObject, History, Profit, Statistical, Feature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010912" y="1572768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3F4F2"/>
          </a:solidFill>
          <a:ln/>
        </p:spPr>
      </p:sp>
      <p:sp>
        <p:nvSpPr>
          <p:cNvPr id="15" name="Shape 11"/>
          <p:cNvSpPr/>
          <p:nvPr/>
        </p:nvSpPr>
        <p:spPr>
          <a:xfrm>
            <a:off x="5806440" y="1755648"/>
            <a:ext cx="512064" cy="512064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16" name="Image 2" descr="/home/claude/build/icons/pkg_adap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008" y="1822216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2352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120640" y="267004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DrinkAdapter, UnitAdapter, HistoryAdapter, ProfitAdapter, SelectDrinkAdapter…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242048" y="1572768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3F4F2"/>
          </a:solidFill>
          <a:ln/>
        </p:spPr>
      </p:sp>
      <p:sp>
        <p:nvSpPr>
          <p:cNvPr id="20" name="Shape 15"/>
          <p:cNvSpPr/>
          <p:nvPr/>
        </p:nvSpPr>
        <p:spPr>
          <a:xfrm>
            <a:off x="8037576" y="1755648"/>
            <a:ext cx="512064" cy="512064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21" name="Image 3" descr="/home/claude/build/icons/pkg_ut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144" y="1822216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3488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/ utils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351776" y="267004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Constants, GlobalFuntion, StringUtil, DateTimeUtils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9473184" y="1572768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3F4F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68712" y="1755648"/>
            <a:ext cx="512064" cy="512064"/>
          </a:xfrm>
          <a:prstGeom prst="ellipse">
            <a:avLst/>
          </a:prstGeom>
          <a:solidFill>
            <a:srgbClr val="1B2A38"/>
          </a:solidFill>
          <a:ln/>
        </p:spPr>
      </p:sp>
      <p:pic>
        <p:nvPicPr>
          <p:cNvPr id="26" name="Image 4" descr="/home/claude/build/icons/pkg_listen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280" y="1822216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64624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9582912" y="267004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IOnSingleClickListener, IGetDateListener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548640" y="3703320"/>
            <a:ext cx="11094415" cy="2331720"/>
          </a:xfrm>
          <a:prstGeom prst="roundRect">
            <a:avLst>
              <a:gd name="adj" fmla="val 3922"/>
            </a:avLst>
          </a:prstGeom>
          <a:solidFill>
            <a:srgbClr val="1B2A38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3904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lớp nền tảng dùng xuyên suốt ứng dụng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22960" y="4389120"/>
            <a:ext cx="5272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BaseActivity
</a:t>
            </a:r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6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cha của mọi Activity chức năng (kế thừa AppCompatActivity), đóng gói sẵn showProgressDialog(), showAlertDialog() và Toast dùng chung — tránh lặp mã xử lý hộp thoại ở nhiều nơi.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278728" y="4389120"/>
            <a:ext cx="5272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MyApplication
</a:t>
            </a:r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6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FirebaseApp.initializeApp() khi ứng dụng chạy, cung cấp các DatabaseReference (/my_unit, /drink, /history…) dùng chung cho toàn bộ Activity qua một điểm khởi tạo duy nhất.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MINH HỌA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demo ứng dụng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47672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ứng dụng → màn hình chức năng chính với 10 nhóm tính năng dạng lưới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1947672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245352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178308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đơn vị tính → thêm / sửa / xóa đơn vị (chai, ly, lon…)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118104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118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953512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đồ uống mới → chọn đơn vị tính tương ứng từ danh sách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862072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5352" y="3118104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245352" y="3118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2953512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kho → nhập số lượng, đơn giá; hệ thống ghi lịch sử &amp; cập nhật tồn kho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288536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12394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kho bán hàng → kiểm tra tồn kho trước khi trừ số lượng bán 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032504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5352" y="4288536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412394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sử nhập – xuất theo từng ngày, phân biệt màu xanh / đỏ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02936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545896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458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529437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thống kê doanh thu, chi phí, lợi nhuận theo khoảng thời gian chọn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5202936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223649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5352" y="545896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6245352" y="5458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03720" y="529437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đồ uống hết hàng &amp; danh sách đồ uống bán chạy nhất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KẾT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quả, hạn chế &amp; hướng phát triển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02152" cy="4663440"/>
          </a:xfrm>
          <a:prstGeom prst="roundRect">
            <a:avLst>
              <a:gd name="adj" fmla="val 2089"/>
            </a:avLst>
          </a:prstGeom>
          <a:solidFill>
            <a:srgbClr val="F3F4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1F6F63"/>
          </a:solidFill>
          <a:ln/>
        </p:spPr>
      </p:sp>
      <p:pic>
        <p:nvPicPr>
          <p:cNvPr id="6" name="Image 0" descr="/home/claude/build/icons/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866748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487168"/>
            <a:ext cx="299008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đủ 10 nhóm chức năng đã đề ra từ màn hình chính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dữ liệu thời gian thực giữa nhiều thiết bị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module hóa: BaseActivity, package theo chức năng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tự tính toán (Profit, Statistical) tập trung logic nghiệp vụ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251960" y="1572768"/>
            <a:ext cx="3502152" cy="4663440"/>
          </a:xfrm>
          <a:prstGeom prst="roundRect">
            <a:avLst>
              <a:gd name="adj" fmla="val 2089"/>
            </a:avLst>
          </a:prstGeom>
          <a:solidFill>
            <a:srgbClr val="F3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801368"/>
            <a:ext cx="502920" cy="502920"/>
          </a:xfrm>
          <a:prstGeom prst="ellipse">
            <a:avLst/>
          </a:prstGeom>
          <a:solidFill>
            <a:srgbClr val="C0533E"/>
          </a:solidFill>
          <a:ln/>
        </p:spPr>
      </p:sp>
      <p:pic>
        <p:nvPicPr>
          <p:cNvPr id="11" name="Image 1" descr="/home/claude/build/icons/lim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940" y="1866748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84708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2487168"/>
            <a:ext cx="299008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đăng nhập / phân quyền người dùng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hoạt động khi mất kết nối mạng (offline)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biểu đồ trực quan hóa số liệu thống kê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toàn bộ lịch sử về client, chưa phân trang truy vấn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7955280" y="1572768"/>
            <a:ext cx="3502152" cy="4663440"/>
          </a:xfrm>
          <a:prstGeom prst="roundRect">
            <a:avLst>
              <a:gd name="adj" fmla="val 2089"/>
            </a:avLst>
          </a:prstGeom>
          <a:solidFill>
            <a:srgbClr val="F3F4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80136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6" name="Image 2" descr="/home/claude/build/icons/fu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260" y="1866748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84708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11312" y="2487168"/>
            <a:ext cx="299008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&amp; phân quyền chủ quán / nhân viên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 + đồng bộ hai chiều để dùng được offline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thống kê (MPAndroidChart), xuất Excel/PDF</a:t>
            </a:r>
            <a:endParaRPr lang="en-US" sz="10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đa chi nhánh, in hóa đơn, bản iOS, Cloud Functions</a:t>
            </a:r>
            <a:endParaRPr lang="en-US" sz="103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KHẢO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tham khảo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B2A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chính thức về lập trình Android dành cho lập trình viên — Android Developers, Google.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B2A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22576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chính thức về ngôn ngữ lập trình Kotlin — Kotlin Documentation, JetBrains.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1B2A3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98094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chính thức về Firebase Realtime Database — Firebase Documentation, Google.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384048" cy="384048"/>
          </a:xfrm>
          <a:prstGeom prst="ellipse">
            <a:avLst/>
          </a:prstGeom>
          <a:solidFill>
            <a:srgbClr val="1B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639312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hướng dẫn sử dụng thư viện Material Dialogs — Afollestad Material Dialogs Documentation.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25112"/>
            <a:ext cx="384048" cy="384048"/>
          </a:xfrm>
          <a:prstGeom prst="ellipse">
            <a:avLst/>
          </a:prstGeom>
          <a:solidFill>
            <a:srgbClr val="1B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chính thức về Google Mobile Ads SDK dành cho Android — Google AdMob Documentation.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1B2A3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956048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trình môn học Phát triển ứng dụng di động — tài liệu lưu hành nội bộ khoa Công nghệ thông tin.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188720"/>
            <a:ext cx="1097280" cy="10972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/home/claude/build/icons/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854" y="1331366"/>
            <a:ext cx="811987" cy="811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14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QUÝ THẦY CÔ ĐÃ LẮNG NGHE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333756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ứng dụng quản lý quán bar trên nền tảng Android sử dụng Kotlin và Firebase Realtime Database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632808" y="4160520"/>
            <a:ext cx="2926080" cy="0"/>
          </a:xfrm>
          <a:prstGeom prst="line">
            <a:avLst/>
          </a:prstGeom>
          <a:noFill/>
          <a:ln w="12700">
            <a:solidFill>
              <a:srgbClr val="3C55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Lâm Trần Hồng Sơn  ·  MSSV: 2311110023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7548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ThS. Huỳnh Vĩnh Phát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góp ý từ quý Thầy Cô để đề tài hoàn thiện hơn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BarManagerKotlin — Đồ án tốt nghiệp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2026-07-14T16:53:33Z</dcterms:created>
  <dcterms:modified xsi:type="dcterms:W3CDTF">2026-07-14T16:53:33Z</dcterms:modified>
</cp:coreProperties>
</file>